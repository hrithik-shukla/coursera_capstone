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3" r:id="rId8"/>
    <p:sldId id="265" r:id="rId9"/>
    <p:sldId id="266" r:id="rId10"/>
    <p:sldId id="264" r:id="rId11"/>
    <p:sldId id="267" r:id="rId12"/>
    <p:sldId id="262"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95" d="100"/>
          <a:sy n="95" d="100"/>
        </p:scale>
        <p:origin x="-1090" y="-77"/>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060812C-6B8A-4125-BABE-EE12791E67A0}" type="datetimeFigureOut">
              <a:rPr lang="en-US" smtClean="0"/>
              <a:t>6/12/2020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422573-0011-4ABC-97F0-6B98D72F0DDC}"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060812C-6B8A-4125-BABE-EE12791E67A0}" type="datetimeFigureOut">
              <a:rPr lang="en-US" smtClean="0"/>
              <a:t>6/12/2020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422573-0011-4ABC-97F0-6B98D72F0DDC}"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060812C-6B8A-4125-BABE-EE12791E67A0}" type="datetimeFigureOut">
              <a:rPr lang="en-US" smtClean="0"/>
              <a:t>6/12/2020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422573-0011-4ABC-97F0-6B98D72F0DDC}"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060812C-6B8A-4125-BABE-EE12791E67A0}" type="datetimeFigureOut">
              <a:rPr lang="en-US" smtClean="0"/>
              <a:t>6/12/2020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422573-0011-4ABC-97F0-6B98D72F0DDC}"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060812C-6B8A-4125-BABE-EE12791E67A0}" type="datetimeFigureOut">
              <a:rPr lang="en-US" smtClean="0"/>
              <a:t>6/12/2020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D422573-0011-4ABC-97F0-6B98D72F0DDC}"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060812C-6B8A-4125-BABE-EE12791E67A0}" type="datetimeFigureOut">
              <a:rPr lang="en-US" smtClean="0"/>
              <a:t>6/12/2020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D422573-0011-4ABC-97F0-6B98D72F0DDC}"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060812C-6B8A-4125-BABE-EE12791E67A0}" type="datetimeFigureOut">
              <a:rPr lang="en-US" smtClean="0"/>
              <a:t>6/12/2020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D422573-0011-4ABC-97F0-6B98D72F0DDC}"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060812C-6B8A-4125-BABE-EE12791E67A0}" type="datetimeFigureOut">
              <a:rPr lang="en-US" smtClean="0"/>
              <a:t>6/12/2020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422573-0011-4ABC-97F0-6B98D72F0DDC}"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060812C-6B8A-4125-BABE-EE12791E67A0}" type="datetimeFigureOut">
              <a:rPr lang="en-US" smtClean="0"/>
              <a:t>6/12/2020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422573-0011-4ABC-97F0-6B98D72F0DDC}"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060812C-6B8A-4125-BABE-EE12791E67A0}" type="datetimeFigureOut">
              <a:rPr lang="en-US" smtClean="0"/>
              <a:t>6/12/2020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422573-0011-4ABC-97F0-6B98D72F0DDC}"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060812C-6B8A-4125-BABE-EE12791E67A0}" type="datetimeFigureOut">
              <a:rPr lang="en-US" smtClean="0"/>
              <a:t>6/12/2020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422573-0011-4ABC-97F0-6B98D72F0DDC}"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5E9EFF"/>
            </a:gs>
            <a:gs pos="39999">
              <a:srgbClr val="85C2FF"/>
            </a:gs>
            <a:gs pos="70000">
              <a:srgbClr val="C4D6EB"/>
            </a:gs>
            <a:gs pos="100000">
              <a:srgbClr val="FFEBFA"/>
            </a:gs>
          </a:gsLst>
          <a:lin ang="5400000" scaled="0"/>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060812C-6B8A-4125-BABE-EE12791E67A0}" type="datetimeFigureOut">
              <a:rPr lang="en-US" smtClean="0"/>
              <a:t>6/12/2020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422573-0011-4ABC-97F0-6B98D72F0DDC}"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foursquare.com/developers/apps" TargetMode="External"/><Relationship Id="rId2" Type="http://schemas.openxmlformats.org/officeDocument/2006/relationships/hyperlink" Target="https://www.kaggle.com/shaswatd673/delhi-neighborhood-data" TargetMode="External"/><Relationship Id="rId1" Type="http://schemas.openxmlformats.org/officeDocument/2006/relationships/slideLayout" Target="../slideLayouts/slideLayout2.xml"/><Relationship Id="rId5" Type="http://schemas.openxmlformats.org/officeDocument/2006/relationships/hyperlink" Target="https://www.scoopwhoop.com/27-instagrammable-cafes-in-delhi/" TargetMode="External"/><Relationship Id="rId4" Type="http://schemas.openxmlformats.org/officeDocument/2006/relationships/hyperlink" Target="https://traveltriangle.com/blog/best-cafes-in-delhi/"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905000"/>
            <a:ext cx="8077200" cy="685800"/>
          </a:xfrm>
        </p:spPr>
        <p:txBody>
          <a:bodyPr>
            <a:normAutofit fontScale="90000"/>
          </a:bodyPr>
          <a:lstStyle/>
          <a:p>
            <a:r>
              <a:rPr lang="en-US" b="1" u="sng" dirty="0"/>
              <a:t>IBM APPLIED DATA SCIENCE CAPSTONE</a:t>
            </a:r>
            <a:r>
              <a:rPr lang="en-US" dirty="0"/>
              <a:t/>
            </a:r>
            <a:br>
              <a:rPr lang="en-US" dirty="0"/>
            </a:br>
            <a:r>
              <a:rPr lang="en-US" b="1" i="1" dirty="0"/>
              <a:t> </a:t>
            </a:r>
            <a:r>
              <a:rPr lang="en-US" dirty="0"/>
              <a:t/>
            </a:r>
            <a:br>
              <a:rPr lang="en-US" dirty="0"/>
            </a:br>
            <a:r>
              <a:rPr lang="en-US" b="1" i="1" dirty="0"/>
              <a:t>OPENING A CAFÉ IN DELHI, INDIA</a:t>
            </a:r>
            <a:r>
              <a:rPr lang="en-US" dirty="0"/>
              <a:t/>
            </a:r>
            <a:br>
              <a:rPr lang="en-US" dirty="0"/>
            </a:br>
            <a:r>
              <a:rPr lang="en-US" dirty="0"/>
              <a:t>BY: HRITHIK SHUKLA</a:t>
            </a:r>
            <a:br>
              <a:rPr lang="en-US" dirty="0"/>
            </a:br>
            <a:r>
              <a:rPr lang="en-US" dirty="0"/>
              <a:t>JUNE 2020</a:t>
            </a:r>
            <a:br>
              <a:rPr lang="en-US" dirty="0"/>
            </a:br>
            <a:endParaRPr lang="en-US" dirty="0"/>
          </a:p>
        </p:txBody>
      </p:sp>
      <p:pic>
        <p:nvPicPr>
          <p:cNvPr id="4" name="Picture 3" descr="Delhi | History, Population, Map, &amp; Facts | Britannica"/>
          <p:cNvPicPr/>
          <p:nvPr/>
        </p:nvPicPr>
        <p:blipFill>
          <a:blip r:embed="rId2"/>
          <a:srcRect/>
          <a:stretch>
            <a:fillRect/>
          </a:stretch>
        </p:blipFill>
        <p:spPr bwMode="auto">
          <a:xfrm>
            <a:off x="1524000" y="3733800"/>
            <a:ext cx="6096000" cy="3124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sz="4900" b="1" dirty="0" smtClean="0"/>
              <a:t>INTRODUCTION</a:t>
            </a:r>
            <a:r>
              <a:rPr lang="en-US" sz="4900" b="1" dirty="0"/>
              <a:t>:</a:t>
            </a:r>
            <a:r>
              <a:rPr lang="en-US" dirty="0"/>
              <a:t/>
            </a:r>
            <a:br>
              <a:rPr lang="en-US" dirty="0"/>
            </a:br>
            <a:endParaRPr lang="en-US" dirty="0"/>
          </a:p>
        </p:txBody>
      </p:sp>
      <p:sp>
        <p:nvSpPr>
          <p:cNvPr id="3" name="Content Placeholder 2"/>
          <p:cNvSpPr>
            <a:spLocks noGrp="1"/>
          </p:cNvSpPr>
          <p:nvPr>
            <p:ph idx="1"/>
          </p:nvPr>
        </p:nvSpPr>
        <p:spPr>
          <a:xfrm>
            <a:off x="457200" y="1676400"/>
            <a:ext cx="8229600" cy="4449763"/>
          </a:xfrm>
        </p:spPr>
        <p:txBody>
          <a:bodyPr/>
          <a:lstStyle/>
          <a:p>
            <a:pPr algn="ctr">
              <a:buNone/>
            </a:pPr>
            <a:r>
              <a:rPr lang="en-US" dirty="0" smtClean="0"/>
              <a:t>    Delhi </a:t>
            </a:r>
            <a:r>
              <a:rPr lang="en-US" dirty="0"/>
              <a:t>is one of the major cities of India and it has one of the most vibrant varieties of café in the world. This city is famous for its food and foodies, you can say food is really important to the people of Delhi. This means the café business flourishes in this city, making it one of the most attractive destinations for restaurant franchises and entrepreneurs.</a:t>
            </a:r>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381000"/>
          </a:xfrm>
        </p:spPr>
        <p:txBody>
          <a:bodyPr>
            <a:normAutofit fontScale="90000"/>
          </a:bodyPr>
          <a:lstStyle/>
          <a:p>
            <a:r>
              <a:rPr lang="en-US" b="1" dirty="0"/>
              <a:t>BUSINESS PROBLEM:</a:t>
            </a:r>
            <a:r>
              <a:rPr lang="en-US" dirty="0"/>
              <a:t/>
            </a:r>
            <a:br>
              <a:rPr lang="en-US" dirty="0"/>
            </a:br>
            <a:endParaRPr lang="en-US" dirty="0"/>
          </a:p>
        </p:txBody>
      </p:sp>
      <p:sp>
        <p:nvSpPr>
          <p:cNvPr id="3" name="Content Placeholder 2"/>
          <p:cNvSpPr>
            <a:spLocks noGrp="1"/>
          </p:cNvSpPr>
          <p:nvPr>
            <p:ph idx="1"/>
          </p:nvPr>
        </p:nvSpPr>
        <p:spPr>
          <a:xfrm>
            <a:off x="0" y="2743200"/>
            <a:ext cx="6172200" cy="4114800"/>
          </a:xfrm>
        </p:spPr>
        <p:txBody>
          <a:bodyPr>
            <a:normAutofit fontScale="70000" lnSpcReduction="20000"/>
          </a:bodyPr>
          <a:lstStyle/>
          <a:p>
            <a:r>
              <a:rPr lang="en-US" dirty="0"/>
              <a:t>Delhi is a big city and has a ton of options when it comes to café places. For anyone new to the café business it will be difficult survive as there is a lot of competition in this market.</a:t>
            </a:r>
          </a:p>
          <a:p>
            <a:r>
              <a:rPr lang="en-US" dirty="0"/>
              <a:t>If an entrepreneur wants to open a café in Delhi at what places should he/she open his/her business so that they face the least competition. There are lots of neighborhoods in Delhi we will have to conduct analysis to see which area can be considered for opening a café. We can leverage the foursquare data by calling data of all the café situated in the specific neighborhoods.</a:t>
            </a:r>
          </a:p>
          <a:p>
            <a:endParaRPr lang="en-US" dirty="0"/>
          </a:p>
        </p:txBody>
      </p:sp>
      <p:sp>
        <p:nvSpPr>
          <p:cNvPr id="3074" name="AutoShape 2" descr="Updated 25 Best Cafes In Delhi (with photos) In 2020"/>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076" name="AutoShape 4" descr="Updated 25 Best Cafes In Delhi (with photos) In 2020"/>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078" name="AutoShape 6" descr="10 Best Cafés in Delhi to Spend the Day I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080" name="AutoShape 8" descr="10 Best Cafés in Delhi to Spend the Day I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8" name="Picture 7" descr="10 Best Cafés in Delhi to Spend the Day In"/>
          <p:cNvPicPr/>
          <p:nvPr/>
        </p:nvPicPr>
        <p:blipFill>
          <a:blip r:embed="rId2"/>
          <a:srcRect/>
          <a:stretch>
            <a:fillRect/>
          </a:stretch>
        </p:blipFill>
        <p:spPr bwMode="auto">
          <a:xfrm>
            <a:off x="838200" y="685800"/>
            <a:ext cx="2743200" cy="1920279"/>
          </a:xfrm>
          <a:prstGeom prst="rect">
            <a:avLst/>
          </a:prstGeom>
          <a:noFill/>
          <a:ln w="9525">
            <a:noFill/>
            <a:miter lim="800000"/>
            <a:headEnd/>
            <a:tailEnd/>
          </a:ln>
        </p:spPr>
      </p:pic>
      <p:pic>
        <p:nvPicPr>
          <p:cNvPr id="9" name="Picture 8" descr="Updated 25 Best Cafes In Delhi (with photos) In 2020"/>
          <p:cNvPicPr/>
          <p:nvPr/>
        </p:nvPicPr>
        <p:blipFill>
          <a:blip r:embed="rId3"/>
          <a:srcRect/>
          <a:stretch>
            <a:fillRect/>
          </a:stretch>
        </p:blipFill>
        <p:spPr bwMode="auto">
          <a:xfrm>
            <a:off x="4343400" y="685800"/>
            <a:ext cx="3962400" cy="1905000"/>
          </a:xfrm>
          <a:prstGeom prst="rect">
            <a:avLst/>
          </a:prstGeom>
          <a:noFill/>
          <a:ln w="9525">
            <a:noFill/>
            <a:miter lim="800000"/>
            <a:headEnd/>
            <a:tailEnd/>
          </a:ln>
        </p:spPr>
      </p:pic>
      <p:pic>
        <p:nvPicPr>
          <p:cNvPr id="3082" name="Picture 10" descr="Work From Cafes in Delhi/NCR: Switch On The New! | ixigo Travel ..."/>
          <p:cNvPicPr>
            <a:picLocks noChangeAspect="1" noChangeArrowheads="1"/>
          </p:cNvPicPr>
          <p:nvPr/>
        </p:nvPicPr>
        <p:blipFill>
          <a:blip r:embed="rId4"/>
          <a:srcRect/>
          <a:stretch>
            <a:fillRect/>
          </a:stretch>
        </p:blipFill>
        <p:spPr bwMode="auto">
          <a:xfrm>
            <a:off x="6172200" y="3124200"/>
            <a:ext cx="2851784" cy="2748708"/>
          </a:xfrm>
          <a:prstGeom prst="rect">
            <a:avLst/>
          </a:prstGeom>
          <a:no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762000"/>
          </a:xfrm>
        </p:spPr>
        <p:txBody>
          <a:bodyPr>
            <a:normAutofit fontScale="90000"/>
          </a:bodyPr>
          <a:lstStyle/>
          <a:p>
            <a:r>
              <a:rPr lang="en-US" b="1" dirty="0"/>
              <a:t>METHODOLOGY:</a:t>
            </a:r>
            <a:r>
              <a:rPr lang="en-US" dirty="0"/>
              <a:t/>
            </a:r>
            <a:br>
              <a:rPr lang="en-US" dirty="0"/>
            </a:br>
            <a:endParaRPr lang="en-US" dirty="0"/>
          </a:p>
        </p:txBody>
      </p:sp>
      <p:sp>
        <p:nvSpPr>
          <p:cNvPr id="3" name="Content Placeholder 2"/>
          <p:cNvSpPr>
            <a:spLocks noGrp="1"/>
          </p:cNvSpPr>
          <p:nvPr>
            <p:ph idx="1"/>
          </p:nvPr>
        </p:nvSpPr>
        <p:spPr/>
        <p:txBody>
          <a:bodyPr/>
          <a:lstStyle/>
          <a:p>
            <a:r>
              <a:rPr lang="en-US" sz="2400" b="1" dirty="0"/>
              <a:t>Importing neighborhood data and performing data wrangling</a:t>
            </a:r>
            <a:r>
              <a:rPr lang="en-US" sz="2400" b="1" dirty="0" smtClean="0"/>
              <a:t>:</a:t>
            </a:r>
          </a:p>
          <a:p>
            <a:pPr lvl="0"/>
            <a:r>
              <a:rPr lang="en-US" sz="2400" b="1" dirty="0"/>
              <a:t>Latitude and longitude of neighborhoods:</a:t>
            </a:r>
            <a:endParaRPr lang="en-US" sz="2400" dirty="0"/>
          </a:p>
          <a:p>
            <a:endParaRPr lang="en-US" dirty="0"/>
          </a:p>
        </p:txBody>
      </p:sp>
      <p:pic>
        <p:nvPicPr>
          <p:cNvPr id="2052" name="Picture 4"/>
          <p:cNvPicPr>
            <a:picLocks noChangeAspect="1" noChangeArrowheads="1"/>
          </p:cNvPicPr>
          <p:nvPr/>
        </p:nvPicPr>
        <p:blipFill>
          <a:blip r:embed="rId2"/>
          <a:srcRect/>
          <a:stretch>
            <a:fillRect/>
          </a:stretch>
        </p:blipFill>
        <p:spPr bwMode="auto">
          <a:xfrm>
            <a:off x="609600" y="3505200"/>
            <a:ext cx="4419600" cy="3204205"/>
          </a:xfrm>
          <a:prstGeom prst="rect">
            <a:avLst/>
          </a:prstGeom>
          <a:noFill/>
          <a:ln w="9525">
            <a:noFill/>
            <a:miter lim="800000"/>
            <a:headEnd/>
            <a:tailEnd/>
          </a:ln>
          <a:effectLst/>
        </p:spPr>
      </p:pic>
      <p:pic>
        <p:nvPicPr>
          <p:cNvPr id="2053" name="Picture 5"/>
          <p:cNvPicPr>
            <a:picLocks noChangeAspect="1" noChangeArrowheads="1"/>
          </p:cNvPicPr>
          <p:nvPr/>
        </p:nvPicPr>
        <p:blipFill>
          <a:blip r:embed="rId3"/>
          <a:srcRect/>
          <a:stretch>
            <a:fillRect/>
          </a:stretch>
        </p:blipFill>
        <p:spPr bwMode="auto">
          <a:xfrm>
            <a:off x="5410200" y="3352800"/>
            <a:ext cx="3324317" cy="335280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US" sz="2700" b="1" dirty="0"/>
              <a:t>Visualizing the data:</a:t>
            </a:r>
            <a:r>
              <a:rPr lang="en-US" dirty="0"/>
              <a:t/>
            </a:r>
            <a:br>
              <a:rPr lang="en-US" dirty="0"/>
            </a:br>
            <a:endParaRPr lang="en-US" dirty="0"/>
          </a:p>
        </p:txBody>
      </p:sp>
      <p:pic>
        <p:nvPicPr>
          <p:cNvPr id="1025" name="Picture 1"/>
          <p:cNvPicPr>
            <a:picLocks noChangeAspect="1" noChangeArrowheads="1"/>
          </p:cNvPicPr>
          <p:nvPr/>
        </p:nvPicPr>
        <p:blipFill>
          <a:blip r:embed="rId2"/>
          <a:srcRect/>
          <a:stretch>
            <a:fillRect/>
          </a:stretch>
        </p:blipFill>
        <p:spPr bwMode="auto">
          <a:xfrm>
            <a:off x="174625" y="1009650"/>
            <a:ext cx="8794750" cy="48387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pPr lvl="0"/>
            <a:r>
              <a:rPr lang="en-US" sz="3100" b="1" dirty="0"/>
              <a:t>Calling foursquare API to get venue data:</a:t>
            </a:r>
            <a:r>
              <a:rPr lang="en-US" dirty="0"/>
              <a:t/>
            </a:r>
            <a:br>
              <a:rPr lang="en-US" dirty="0"/>
            </a:br>
            <a:endParaRPr lang="en-US" dirty="0"/>
          </a:p>
        </p:txBody>
      </p:sp>
      <p:pic>
        <p:nvPicPr>
          <p:cNvPr id="9218" name="Picture 2"/>
          <p:cNvPicPr>
            <a:picLocks noGrp="1" noChangeAspect="1" noChangeArrowheads="1"/>
          </p:cNvPicPr>
          <p:nvPr>
            <p:ph idx="1"/>
          </p:nvPr>
        </p:nvPicPr>
        <p:blipFill>
          <a:blip r:embed="rId2"/>
          <a:srcRect/>
          <a:stretch>
            <a:fillRect/>
          </a:stretch>
        </p:blipFill>
        <p:spPr bwMode="auto">
          <a:xfrm>
            <a:off x="457200" y="838200"/>
            <a:ext cx="8229600" cy="525538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pPr lvl="0"/>
            <a:r>
              <a:rPr lang="en-US" sz="2700" b="1" dirty="0" smtClean="0"/>
              <a:t>Analyzing the venue data and preparing data for clustering:</a:t>
            </a:r>
            <a:r>
              <a:rPr lang="en-US" dirty="0" smtClean="0"/>
              <a:t/>
            </a:r>
            <a:br>
              <a:rPr lang="en-US" dirty="0" smtClean="0"/>
            </a:br>
            <a:endParaRPr lang="en-US" dirty="0"/>
          </a:p>
        </p:txBody>
      </p:sp>
      <p:sp>
        <p:nvSpPr>
          <p:cNvPr id="3" name="Content Placeholder 2"/>
          <p:cNvSpPr>
            <a:spLocks noGrp="1"/>
          </p:cNvSpPr>
          <p:nvPr>
            <p:ph idx="1"/>
          </p:nvPr>
        </p:nvSpPr>
        <p:spPr>
          <a:xfrm>
            <a:off x="457200" y="1295400"/>
            <a:ext cx="8229600" cy="4830763"/>
          </a:xfrm>
        </p:spPr>
        <p:txBody>
          <a:bodyPr>
            <a:normAutofit/>
          </a:bodyPr>
          <a:lstStyle/>
          <a:p>
            <a:r>
              <a:rPr lang="en-US" sz="2400" dirty="0" smtClean="0"/>
              <a:t>The </a:t>
            </a:r>
            <a:r>
              <a:rPr lang="en-US" sz="2400" dirty="0"/>
              <a:t>foursquare API gives us various categories of venues pertaining to certain neighborhoods. We can count the number of venues in each category. We can check how many venues were returned for each neighborhood. Then we group the rows according to the neighborhoods and take mean of the frequency of occurrence of each venue category. We also perform one hot encoding of the data. Now as the scope of this project is limited to cafés so we filter the café data as venue category for neighborhoods. By doing all this we are actually preparing data for clustering.</a:t>
            </a:r>
          </a:p>
          <a:p>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100" b="1" dirty="0" smtClean="0"/>
              <a:t>Performing clustering:</a:t>
            </a:r>
            <a:r>
              <a:rPr lang="en-US" dirty="0" smtClean="0"/>
              <a:t/>
            </a:r>
            <a:br>
              <a:rPr lang="en-US" dirty="0" smtClean="0"/>
            </a:br>
            <a:r>
              <a:rPr lang="en-US" sz="2200" dirty="0"/>
              <a:t>Below map shows the 3 clusters. Cluster 0 is purple, Cluster 1 is mint green and Cluster 2 is red. </a:t>
            </a:r>
            <a:r>
              <a:rPr lang="en-US" dirty="0"/>
              <a:t/>
            </a:r>
            <a:br>
              <a:rPr lang="en-US" dirty="0"/>
            </a:br>
            <a:endParaRPr lang="en-US" dirty="0"/>
          </a:p>
        </p:txBody>
      </p:sp>
      <p:pic>
        <p:nvPicPr>
          <p:cNvPr id="4" name="Picture 3"/>
          <p:cNvPicPr/>
          <p:nvPr/>
        </p:nvPicPr>
        <p:blipFill>
          <a:blip r:embed="rId2"/>
          <a:srcRect/>
          <a:stretch>
            <a:fillRect/>
          </a:stretch>
        </p:blipFill>
        <p:spPr bwMode="auto">
          <a:xfrm>
            <a:off x="533400" y="1066800"/>
            <a:ext cx="7924800" cy="5334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533400"/>
          </a:xfrm>
        </p:spPr>
        <p:txBody>
          <a:bodyPr>
            <a:normAutofit fontScale="90000"/>
          </a:bodyPr>
          <a:lstStyle/>
          <a:p>
            <a:r>
              <a:rPr lang="en-US" sz="3100" b="1" dirty="0" smtClean="0"/>
              <a:t>Result:</a:t>
            </a:r>
            <a:r>
              <a:rPr lang="en-US" dirty="0" smtClean="0"/>
              <a:t/>
            </a:r>
            <a:br>
              <a:rPr lang="en-US" dirty="0" smtClean="0"/>
            </a:br>
            <a:endParaRPr lang="en-US" dirty="0"/>
          </a:p>
        </p:txBody>
      </p:sp>
      <p:sp>
        <p:nvSpPr>
          <p:cNvPr id="3" name="Content Placeholder 2"/>
          <p:cNvSpPr>
            <a:spLocks noGrp="1"/>
          </p:cNvSpPr>
          <p:nvPr>
            <p:ph idx="1"/>
          </p:nvPr>
        </p:nvSpPr>
        <p:spPr>
          <a:xfrm>
            <a:off x="457200" y="990600"/>
            <a:ext cx="8229600" cy="5135563"/>
          </a:xfrm>
        </p:spPr>
        <p:txBody>
          <a:bodyPr>
            <a:normAutofit fontScale="85000" lnSpcReduction="20000"/>
          </a:bodyPr>
          <a:lstStyle/>
          <a:p>
            <a:pPr>
              <a:buNone/>
            </a:pPr>
            <a:r>
              <a:rPr lang="en-US" dirty="0" smtClean="0"/>
              <a:t>    The </a:t>
            </a:r>
            <a:r>
              <a:rPr lang="en-US" dirty="0"/>
              <a:t>neighborhoods were clustered using the K-Means clustering algorithm into 3 clusters according to the frequency of occurrence of “café” in the respective neighborhoods.</a:t>
            </a:r>
          </a:p>
          <a:p>
            <a:r>
              <a:rPr lang="en-US" dirty="0"/>
              <a:t>After examining the clusters:</a:t>
            </a:r>
          </a:p>
          <a:p>
            <a:pPr lvl="0"/>
            <a:r>
              <a:rPr lang="en-US" b="1" dirty="0"/>
              <a:t>Cluster 0:</a:t>
            </a:r>
            <a:r>
              <a:rPr lang="en-US" dirty="0"/>
              <a:t> The number of cafés in these neighborhoods is moderate. It has a moderate level of competition</a:t>
            </a:r>
            <a:r>
              <a:rPr lang="en-US" dirty="0" smtClean="0"/>
              <a:t>.</a:t>
            </a:r>
            <a:endParaRPr lang="en-US" dirty="0"/>
          </a:p>
          <a:p>
            <a:pPr lvl="0"/>
            <a:r>
              <a:rPr lang="en-US" b="1" dirty="0"/>
              <a:t>Cluster 1:</a:t>
            </a:r>
            <a:r>
              <a:rPr lang="en-US" dirty="0"/>
              <a:t> It can be seen that this cluster of neighborhoods has the highest no. of cafés. Hence, the completion in these neighborhoods will be the highest amongst the 3 clusters. </a:t>
            </a:r>
          </a:p>
          <a:p>
            <a:pPr lvl="0"/>
            <a:r>
              <a:rPr lang="en-US" b="1" dirty="0"/>
              <a:t>Cluster 2:</a:t>
            </a:r>
            <a:r>
              <a:rPr lang="en-US" dirty="0"/>
              <a:t> It can be seen that in this cluster the number of cafés in these neighborhoods is low. Hence, It has low level of competition.</a:t>
            </a:r>
          </a:p>
          <a:p>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100" b="1" dirty="0" smtClean="0"/>
              <a:t>CONCLUSION:</a:t>
            </a:r>
            <a:r>
              <a:rPr lang="en-US" dirty="0"/>
              <a:t/>
            </a:r>
            <a:br>
              <a:rPr lang="en-US" dirty="0"/>
            </a:br>
            <a:endParaRPr lang="en-US" dirty="0"/>
          </a:p>
        </p:txBody>
      </p:sp>
      <p:sp>
        <p:nvSpPr>
          <p:cNvPr id="3" name="Content Placeholder 2"/>
          <p:cNvSpPr>
            <a:spLocks noGrp="1"/>
          </p:cNvSpPr>
          <p:nvPr>
            <p:ph idx="1"/>
          </p:nvPr>
        </p:nvSpPr>
        <p:spPr>
          <a:xfrm>
            <a:off x="457200" y="914400"/>
            <a:ext cx="8229600" cy="5211763"/>
          </a:xfrm>
        </p:spPr>
        <p:txBody>
          <a:bodyPr>
            <a:normAutofit fontScale="77500" lnSpcReduction="20000"/>
          </a:bodyPr>
          <a:lstStyle/>
          <a:p>
            <a:pPr>
              <a:buNone/>
            </a:pPr>
            <a:r>
              <a:rPr lang="en-US" dirty="0" smtClean="0"/>
              <a:t>     During </a:t>
            </a:r>
            <a:r>
              <a:rPr lang="en-US" dirty="0"/>
              <a:t>this project, we have identified the business problem clearly, the data required was specified also extraction and cleaning of data was carried out, performing machine learning by clustering the data into 3 clusters, on the basis of their similar features. Then appropriate recommendations were provided to the target audience of the project, which were café franchises and entrepreneurs who want to open a café. After the analysis it was found that cluster 2 is the best suited cluster for opening new café, the neighborhoods in this cluster have a very low level of café concentration therefore providing low competition to a new café. These findings will help our target audience to make a knowledgeable decision on how they can avoid high competition and choose a place with low to moderate level of competition. </a:t>
            </a:r>
          </a:p>
          <a:p>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100" b="1" dirty="0"/>
              <a:t>References:</a:t>
            </a:r>
            <a:r>
              <a:rPr lang="en-US" dirty="0"/>
              <a:t/>
            </a:r>
            <a:br>
              <a:rPr lang="en-US" dirty="0"/>
            </a:br>
            <a:endParaRPr lang="en-US" dirty="0"/>
          </a:p>
        </p:txBody>
      </p:sp>
      <p:sp>
        <p:nvSpPr>
          <p:cNvPr id="3" name="Content Placeholder 2"/>
          <p:cNvSpPr>
            <a:spLocks noGrp="1"/>
          </p:cNvSpPr>
          <p:nvPr>
            <p:ph idx="1"/>
          </p:nvPr>
        </p:nvSpPr>
        <p:spPr/>
        <p:txBody>
          <a:bodyPr/>
          <a:lstStyle/>
          <a:p>
            <a:pPr lvl="0"/>
            <a:r>
              <a:rPr lang="en-US" sz="1800" u="sng" dirty="0">
                <a:hlinkClick r:id="rId2"/>
              </a:rPr>
              <a:t>https://www.kaggle.com/shaswatd673/delhi-neighborhood-data</a:t>
            </a:r>
            <a:endParaRPr lang="en-US" sz="1800" dirty="0"/>
          </a:p>
          <a:p>
            <a:pPr lvl="0"/>
            <a:r>
              <a:rPr lang="en-US" sz="1800" u="sng" dirty="0">
                <a:hlinkClick r:id="rId3"/>
              </a:rPr>
              <a:t>https://foursquare.com/developers/apps</a:t>
            </a:r>
            <a:endParaRPr lang="en-US" sz="1800" dirty="0"/>
          </a:p>
          <a:p>
            <a:pPr lvl="0"/>
            <a:r>
              <a:rPr lang="en-US" sz="1800" u="sng" dirty="0">
                <a:hlinkClick r:id="rId4"/>
              </a:rPr>
              <a:t>https://traveltriangle.com/blog/best-cafes-in-delhi/</a:t>
            </a:r>
            <a:endParaRPr lang="en-US" sz="1800" dirty="0"/>
          </a:p>
          <a:p>
            <a:pPr lvl="0"/>
            <a:r>
              <a:rPr lang="en-US" sz="1800" u="sng" dirty="0">
                <a:hlinkClick r:id="rId5"/>
              </a:rPr>
              <a:t>https://www.scoopwhoop.com/27-instagrammable-cafes-in-delhi/</a:t>
            </a:r>
            <a:endParaRPr lang="en-US" sz="1800" dirty="0"/>
          </a:p>
          <a:p>
            <a:endParaRPr lang="en-US" dirty="0"/>
          </a:p>
          <a:p>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600200"/>
            <a:ext cx="10134600" cy="2286000"/>
          </a:xfrm>
        </p:spPr>
        <p:txBody>
          <a:bodyPr>
            <a:normAutofit/>
          </a:bodyPr>
          <a:lstStyle/>
          <a:p>
            <a:r>
              <a:rPr lang="en-US" sz="8800" b="1" dirty="0" smtClean="0"/>
              <a:t>THANK YOU</a:t>
            </a:r>
            <a:endParaRPr lang="en-US" sz="8800" b="1"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TotalTime>
  <Words>623</Words>
  <Application>Microsoft Office PowerPoint</Application>
  <PresentationFormat>On-screen Show (4:3)</PresentationFormat>
  <Paragraphs>28</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IBM APPLIED DATA SCIENCE CAPSTONE   OPENING A CAFÉ IN DELHI, INDIA BY: HRITHIK SHUKLA JUNE 2020 </vt:lpstr>
      <vt:lpstr> INTRODUCTION: </vt:lpstr>
      <vt:lpstr>BUSINESS PROBLEM: </vt:lpstr>
      <vt:lpstr>METHODOLOGY: </vt:lpstr>
      <vt:lpstr>Visualizing the data: </vt:lpstr>
      <vt:lpstr>Calling foursquare API to get venue data: </vt:lpstr>
      <vt:lpstr>Analyzing the venue data and preparing data for clustering: </vt:lpstr>
      <vt:lpstr>Performing clustering: Below map shows the 3 clusters. Cluster 0 is purple, Cluster 1 is mint green and Cluster 2 is red.  </vt:lpstr>
      <vt:lpstr>Result: </vt:lpstr>
      <vt:lpstr>CONCLUSION: </vt:lpstr>
      <vt:lpstr>References: </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IBM APPLIED DATA SCIENCE CAPSTONE   OPENING A CAFÉ IN DELHI, INDIA BY: HRITHIK SHUKLA JUNE 2020 </dc:title>
  <dc:creator>hrithik shukla</dc:creator>
  <cp:lastModifiedBy>hrithik shukla</cp:lastModifiedBy>
  <cp:revision>2</cp:revision>
  <dcterms:created xsi:type="dcterms:W3CDTF">2020-06-12T17:55:54Z</dcterms:created>
  <dcterms:modified xsi:type="dcterms:W3CDTF">2020-06-12T18:22:45Z</dcterms:modified>
</cp:coreProperties>
</file>